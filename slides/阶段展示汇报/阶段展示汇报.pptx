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7"/>
  </p:notesMasterIdLst>
  <p:sldIdLst>
    <p:sldId id="256" r:id="rId1"/>
    <p:sldId id="257" r:id="rId2"/>
    <p:sldId id="258" r:id="rId3"/>
    <p:sldId id="259" r:id="rId4"/>
    <p:sldId id="260" r:id="rId5"/>
    <p:sldId id="261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viewProps" Target="viewProps.xml" /><Relationship Id="rId6" Type="http://schemas.openxmlformats.org/officeDocument/2006/relationships/slide" Target="slides/slide6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9" Type="http://schemas.openxmlformats.org/officeDocument/2006/relationships/tableStyles" Target="tableStyles.xml" /><Relationship Id="rId7" Type="http://schemas.openxmlformats.org/officeDocument/2006/relationships/notesMaster" Target="notesMasters/notesMaster1.xml" /><Relationship Id="rId8" Type="http://schemas.openxmlformats.org/officeDocument/2006/relationships/presProps" Target="pres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FFFFFF', padding: 0, position: 'relative' }}&gt;&#10;    &lt;Box style={{ position: 'absolute', left: 100, top: 196, display: 'flex', flexDirection: 'row', alignItems: 'stretch', gap: 36 }}&gt;&#10;        &lt;Box style={{ width: 5, background: '#1E4FA8' }} /&gt;&#10;        &lt;Box style={{ display: 'flex', flexDirection: 'column', gap: 26 }}&gt;&#10;            &lt;Text style={{ fontSize: 62, fontWeight: 'bold', color: '#1A2230', lineHeight: 1.22 }}&gt;&#10;                基于代价敏感 CatBoost 的&lt;br /&gt;MOOC 辍学风险预测研究&#10;            &lt;/Text&gt;&#10;            &lt;Text style={{ fontSize: 22, color: '#4A5568', lineHeight: 1.3 }}&gt;&#10;                Cost-Sensitive CatBoost for MOOC Dropout Risk Prediction&#10;            &lt;/Text&gt;&#10;        &lt;/Box&gt;&#10;    &lt;/Box&gt;&#10;    &lt;Box style={{ position: 'absolute', left: 100, bottom: 72, width: 1080, display: 'flex', flexDirection: 'row', alignItems: 'center', gap: 18 }}&gt;&#10;        &lt;Text style={{ fontSize: 16, color: '#8B97A8' }}&gt;阶段性研究进展汇报&lt;/Text&gt;&#10;        &lt;Box style={{ width: 1, height: 14, background: '#D6DCE5' }} /&gt;&#10;        &lt;Text style={{ fontSize: 16, color: '#8B97A8' }}&gt;汇报人：廖祥鳌&lt;/Text&gt;&#10;        &lt;Box style={{ width: 1, height: 14, background: '#D6DCE5' }} /&gt;&#10;        &lt;Text style={{ fontSize: 16, color: '#8B97A8' }}&gt;2026 年 10 月 30 日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952500" y="1866900"/>
            <a:ext cx="47625" cy="231457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1343025" y="1866900"/>
            <a:ext cx="7191375" cy="1733550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1A2230"/>
                </a:solidFill>
                <a:latin typeface="Microsoft YaHei"/>
                <a:ea typeface="Microsoft YaHei"/>
              </a:rPr>
              <a:t>基于代价敏感</a:t>
            </a:r>
            <a:r>
              <a:rPr lang="en-US" sz="46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CatBoost </a:t>
            </a:r>
            <a:r>
              <a:rPr lang="zh-CN" sz="4650" b="1">
                <a:solidFill>
                  <a:srgbClr val="1A2230"/>
                </a:solidFill>
                <a:latin typeface="Microsoft YaHei"/>
                <a:ea typeface="Microsoft YaHei"/>
              </a:rPr>
              <a:t>的</a:t>
            </a:r>
            <a:endParaRPr/>
          </a:p>
          <a:p>
            <a:pPr>
              <a:lnSpc>
                <a:spcPct val="122000"/>
              </a:lnSpc>
            </a:pPr>
            <a:r>
              <a:rPr lang="en-US" sz="46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MOOC </a:t>
            </a:r>
            <a:r>
              <a:rPr lang="zh-CN" sz="4650" b="1">
                <a:solidFill>
                  <a:srgbClr val="1A2230"/>
                </a:solidFill>
                <a:latin typeface="Microsoft YaHei"/>
                <a:ea typeface="Microsoft YaHei"/>
              </a:rPr>
              <a:t>辍学风险预测研究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1343025" y="3848100"/>
            <a:ext cx="7191375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Cost-Sensitive CatBoost for MOOC Dropout Risk Prediction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952500" y="598170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阶段性研究进展汇报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2495550" y="6010275"/>
            <a:ext cx="9525" cy="1333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2676525" y="5981700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汇报人：廖祥鳌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3914775" y="6010275"/>
            <a:ext cx="9525" cy="1333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4095750" y="5981700"/>
            <a:ext cx="1400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年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月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日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1" name="" descr="&lt;Slide style={{ width: 1280, height: 720, background: '#FFFFFF', padding: 0, position: 'relative' }}&gt;&#10;    &lt;Box style={{ position: 'absolute', left: 0, top: 0, width: 1280, height: 76, background: '#1E4FA8', display: 'flex', flexDirection: 'row', alignItems: 'center', justifyContent: 'space-between', paddingLeft: 100, paddingRight: 60 }}&gt;&#10;        &lt;Text style={{ fontSize: 34, fontWeight: 'bold', color: '#FFFFFF' }}&gt;为什么门槛是 0.091，而不是 0.5&lt;/Text&gt;&#10;        &lt;Text style={{ fontSize: 15, color: '#B9CDEC', letterSpacing: 1 }}&gt;02 / 06&lt;/Text&gt;&#10;    &lt;/Box&gt;&#10;&#10;    &lt;Box style={{ position: 'absolute', left: 100, top: 142, width: 520, display: 'flex', flexDirection: 'column' }}&gt;&#10;        &lt;Text style={{ fontSize: 15, color: '#8B97A8', letterSpacing: 1, marginBottom: 16 }}&gt;两类错误的代价&lt;/Text&gt;&#10;&#10;        &lt;Box style={{ width: 520, background: '#F7F9FC', borderLeft: '3px solid #1E4FA8', padding: '24px 28px', display: 'flex', flexDirection: 'column', gap: 4 }}&gt;&#10;            &lt;Text style={{ fontSize: 16, color: '#4A5568' }}&gt;漏报 · 该被预警的学生没有预警&lt;/Text&gt;&#10;            &lt;Text style={{ fontSize: 40, fontWeight: 'bold', color: '#1E4FA8', lineHeight: 1.15 }}&gt;¥1,000&lt;/Text&gt;&#10;        &lt;/Box&gt;&#10;&#10;        &lt;Box style={{ height: 16 }} /&gt;&#10;&#10;        &lt;Box style={{ width: 520, background: '#F7F9FC', borderLeft: '3px solid #9FB6D9', padding: '24px 28px', display: 'flex', flexDirection: 'column', gap: 4 }}&gt;&#10;            &lt;Text style={{ fontSize: 16, color: '#4A5568' }}&gt;误报 · 不必干预的学生被打扰&lt;/Text&gt;&#10;            &lt;Text style={{ fontSize: 40, fontWeight: 'bold', color: '#3D7BD9', lineHeight: 1.15 }}&gt;¥100&lt;/Text&gt;&#10;        &lt;/Box&gt;&#10;&#10;        &lt;Box style={{ height: 26 }} /&gt;&#10;        &lt;Text style={{ fontSize: 19, color: '#4A5568' }}&gt;漏报 : 误报 = &lt;span style={{ fontWeight: 'bold', color: '#1A2230' }}&gt;10 : 1&lt;/span&gt;&lt;/Text&gt;&#10;    &lt;/Box&gt;&#10;&#10;    &lt;Box style={{ position: 'absolute', left: 628, top: 278, display: 'flex' }}&gt;&#10;        &lt;svg width={56} height={22} viewBox=&quot;0 0 56 22&quot;&gt;&#10;            &lt;path d=&quot;M2 11 H45 M37 4 L47 11 L37 18&quot; fill=&quot;none&quot; stroke=&quot;#8FA8C9&quot; strokeWidth=&quot;2.8&quot; strokeLinecap=&quot;round&quot; strokeLinejoin=&quot;round&quot; /&gt;&#10;        &lt;/svg&gt;&#10;    &lt;/Box&gt;&#10;&#10;    &lt;Box style={{ position: 'absolute', left: 700, top: 196, width: 470, display: 'flex', flexDirection: 'column' }}&gt;&#10;        &lt;Text style={{ fontSize: 15, color: '#8B97A8', letterSpacing: 1 }}&gt;代价最优判定门槛&lt;/Text&gt;&#10;        &lt;Text style={{ fontSize: 104, fontWeight: 'bold', color: '#1E4FA8', lineHeight: 1.1, letterSpacing: -2 }}&gt;0.091&lt;/Text&gt;&#10;        &lt;Text style={{ fontSize: 15, color: '#8B97A8', marginTop: 6 }}&gt;门槛 = 误报成本 ÷ (误报成本 + 漏报成本) = 100 ÷ 1,100&lt;/Text&gt;&#10;    &lt;/Box&gt;&#10;&#10;    &lt;Box style={{ position: 'absolute', left: 100, top: 516, width: 1080, background: '#E8EFF8', padding: '18px 28px' }}&gt;&#10;        &lt;Text style={{ fontSize: 19, color: '#1E4FA8', lineHeight: 1.55 }}&gt;&#10;            同一模型、同一测试集：在 0.5 处漏掉 &lt;span style={{ fontWeight: 'bold' }}&gt;50 个&lt;/span&gt;真正会辍学的学生，在 0.091 处只漏 &lt;span style={{ fontWeight: 'bold' }}&gt;7 个&lt;/span&gt;&#10;            &lt;br /&gt;&#10;            &lt;span style={{ fontSize: 17, color: '#3D6FB8' }}&gt;差别不在模型，在决策规则&lt;/span&gt;&#10;        &lt;/Text&gt;&#10;    &lt;/Box&gt;&#10;&#10;    &lt;Text style={{ position: 'absolute', left: 100, bottom: 34, fontSize: 13, color: '#B0BAC7' }}&gt;合成数据 · 4,000 条选课 / 20.8 万条行为事件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"/>
          <p:cNvSpPr/>
          <p:nvPr/>
        </p:nvSpPr>
        <p:spPr>
          <a:xfrm rot="0" flipH="0" flipV="0">
            <a:off x="0" y="0"/>
            <a:ext cx="12192000" cy="7239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952500" y="171450"/>
            <a:ext cx="4819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为什么门槛是</a:t>
            </a: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0.091</a:t>
            </a: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，而不是</a:t>
            </a: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0.5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11068050" y="276225"/>
            <a:ext cx="552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EC"/>
                </a:solidFill>
                <a:latin typeface="Microsoft YaHei"/>
                <a:ea typeface="Microsoft YaHei"/>
              </a:rPr>
              <a:t>02 / 06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952500" y="1352550"/>
            <a:ext cx="495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8B97A8"/>
                </a:solidFill>
                <a:latin typeface="Microsoft YaHei"/>
                <a:ea typeface="Microsoft YaHei"/>
              </a:rPr>
              <a:t>两类错误的代价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981075" y="1676400"/>
            <a:ext cx="4924425" cy="12192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952500" y="1676400"/>
            <a:ext cx="4953000" cy="1219200"/>
          </a:xfrm>
          <a:custGeom>
            <a:pathLst>
              <a:path w="520" h="128">
                <a:moveTo>
                  <a:pt x="0" y="0"/>
                </a:moveTo>
                <a:lnTo>
                  <a:pt x="3" y="0"/>
                </a:lnTo>
                <a:lnTo>
                  <a:pt x="3" y="128"/>
                </a:lnTo>
                <a:lnTo>
                  <a:pt x="0" y="12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247775" y="1905000"/>
            <a:ext cx="4391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漏报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该被预警的学生没有预警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247775" y="2133600"/>
            <a:ext cx="4391025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3000" b="1">
                <a:solidFill>
                  <a:srgbClr val="1E4FA8"/>
                </a:solidFill>
                <a:latin typeface="Microsoft YaHei"/>
                <a:ea typeface="Microsoft YaHei"/>
              </a:rPr>
              <a:t>¥1,000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981075" y="3048000"/>
            <a:ext cx="4924425" cy="12192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2" name=""/>
          <p:cNvSpPr/>
          <p:nvPr/>
        </p:nvSpPr>
        <p:spPr>
          <a:xfrm rot="0" flipH="0" flipV="0">
            <a:off x="952500" y="3048000"/>
            <a:ext cx="4953000" cy="1219200"/>
          </a:xfrm>
          <a:custGeom>
            <a:pathLst>
              <a:path w="520" h="128">
                <a:moveTo>
                  <a:pt x="0" y="0"/>
                </a:moveTo>
                <a:lnTo>
                  <a:pt x="3" y="0"/>
                </a:lnTo>
                <a:lnTo>
                  <a:pt x="3" y="128"/>
                </a:lnTo>
                <a:lnTo>
                  <a:pt x="0" y="128"/>
                </a:lnTo>
                <a:close/>
              </a:path>
            </a:pathLst>
          </a:custGeom>
          <a:solidFill>
            <a:srgbClr val="9FB6D9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247775" y="3276600"/>
            <a:ext cx="4391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误报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不必干预的学生被打扰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247775" y="3505200"/>
            <a:ext cx="4391025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3000" b="1">
                <a:solidFill>
                  <a:srgbClr val="3D7BD9"/>
                </a:solidFill>
                <a:latin typeface="Microsoft YaHei"/>
                <a:ea typeface="Microsoft YaHei"/>
              </a:rPr>
              <a:t>¥100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952500" y="4514850"/>
            <a:ext cx="4953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漏报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: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误报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= </a:t>
            </a: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10 : 1</a:t>
            </a:r>
            <a:endParaRPr/>
          </a:p>
        </p:txBody>
      </p:sp>
      <p:pic>
        <p:nvPicPr>
          <p:cNvPr id="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981700" y="2647950"/>
            <a:ext cx="533400" cy="209550"/>
          </a:xfrm>
          <a:prstGeom prst="rect">
            <a:avLst/>
          </a:prstGeom>
          <a:ln/>
        </p:spPr>
      </p:pic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667500" y="1866900"/>
            <a:ext cx="4476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8B97A8"/>
                </a:solidFill>
                <a:latin typeface="Microsoft YaHei"/>
                <a:ea typeface="Microsoft YaHei"/>
              </a:rPr>
              <a:t>代价最优判定门槛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667500" y="2038350"/>
            <a:ext cx="4476750" cy="13144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7800" b="1" spc="-150">
                <a:solidFill>
                  <a:srgbClr val="1E4FA8"/>
                </a:solidFill>
                <a:latin typeface="Microsoft YaHei"/>
                <a:ea typeface="Microsoft YaHei"/>
              </a:rPr>
              <a:t>0.091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667500" y="3409950"/>
            <a:ext cx="4476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门槛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误报成本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÷ (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误报成本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漏报成本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) = 100 ÷ 1,100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952500" y="4914900"/>
            <a:ext cx="10287000" cy="9810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219200" y="5086350"/>
            <a:ext cx="9753600" cy="638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同一模型、同一测试集：在</a:t>
            </a:r>
            <a:r>
              <a:rPr lang="en-US" sz="1425">
                <a:solidFill>
                  <a:srgbClr val="1E4FA8"/>
                </a:solidFill>
                <a:latin typeface="Microsoft YaHei"/>
                <a:ea typeface="Microsoft YaHei"/>
              </a:rPr>
              <a:t xml:space="preserve"> 0.5 </a:t>
            </a: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处漏掉</a:t>
            </a:r>
            <a:r>
              <a:rPr lang="en-US" sz="1425">
                <a:solidFill>
                  <a:srgbClr val="1E4FA8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50 </a:t>
            </a: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个</a:t>
            </a: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真正会辍学的学生，在</a:t>
            </a:r>
            <a:r>
              <a:rPr lang="en-US" sz="1425">
                <a:solidFill>
                  <a:srgbClr val="1E4FA8"/>
                </a:solidFill>
                <a:latin typeface="Microsoft YaHei"/>
                <a:ea typeface="Microsoft YaHei"/>
              </a:rPr>
              <a:t xml:space="preserve"> 0.091 </a:t>
            </a: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处只漏</a:t>
            </a:r>
            <a:r>
              <a:rPr lang="en-US" sz="1425">
                <a:solidFill>
                  <a:srgbClr val="1E4FA8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7 </a:t>
            </a: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个</a:t>
            </a:r>
            <a:endParaRPr/>
          </a:p>
          <a:p>
            <a:pPr>
              <a:lnSpc>
                <a:spcPct val="155000"/>
              </a:lnSpc>
            </a:pPr>
            <a:r>
              <a:rPr lang="zh-CN" sz="1275">
                <a:solidFill>
                  <a:srgbClr val="3D6FB8"/>
                </a:solidFill>
                <a:latin typeface="Microsoft YaHei"/>
                <a:ea typeface="Microsoft YaHei"/>
              </a:rPr>
              <a:t>差别不在模型，在决策规则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952500" y="6381750"/>
            <a:ext cx="2486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0BAC7"/>
                </a:solidFill>
                <a:latin typeface="Microsoft YaHei"/>
                <a:ea typeface="Microsoft YaHei"/>
              </a:rPr>
              <a:t>合成数据</a:t>
            </a:r>
            <a:r>
              <a:rPr lang="en-US" sz="975">
                <a:solidFill>
                  <a:srgbClr val="B0BAC7"/>
                </a:solidFill>
                <a:latin typeface="Microsoft YaHei"/>
                <a:ea typeface="Microsoft YaHei"/>
              </a:rPr>
              <a:t xml:space="preserve"> · 4,000 </a:t>
            </a:r>
            <a:r>
              <a:rPr lang="zh-CN" sz="975">
                <a:solidFill>
                  <a:srgbClr val="B0BAC7"/>
                </a:solidFill>
                <a:latin typeface="Microsoft YaHei"/>
                <a:ea typeface="Microsoft YaHei"/>
              </a:rPr>
              <a:t>条选课</a:t>
            </a:r>
            <a:r>
              <a:rPr lang="en-US" sz="975">
                <a:solidFill>
                  <a:srgbClr val="B0BAC7"/>
                </a:solidFill>
                <a:latin typeface="Microsoft YaHei"/>
                <a:ea typeface="Microsoft YaHei"/>
              </a:rPr>
              <a:t xml:space="preserve"> / 20.8 </a:t>
            </a:r>
            <a:r>
              <a:rPr lang="zh-CN" sz="975">
                <a:solidFill>
                  <a:srgbClr val="B0BAC7"/>
                </a:solidFill>
                <a:latin typeface="Microsoft YaHei"/>
                <a:ea typeface="Microsoft YaHei"/>
              </a:rPr>
              <a:t>万条行为事件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33" name="" descr="&lt;Slide style={{ width: 1280, height: 720, background: '#FFFFFF', padding: 0, position: 'relative' }}&gt;&#10;    &lt;Box style={{ position: 'absolute', left: 0, top: 0, width: 1280, height: 76, background: '#1E4FA8', display: 'flex', flexDirection: 'row', alignItems: 'center', justifyContent: 'space-between', paddingLeft: 100, paddingRight: 60 }}&gt;&#10;        &lt;Text style={{ fontSize: 34, fontWeight: 'bold', color: '#FFFFFF' }}&gt;加权与阈值移动是等价的&lt;/Text&gt;&#10;        &lt;Text style={{ fontSize: 15, color: '#B9CDEC', letterSpacing: 1 }}&gt;03 / 06&lt;/Text&gt;&#10;    &lt;/Box&gt;&#10;&#10;    &lt;Box style={{ position: 'absolute', left: 100, top: 128, width: 600, display: 'flex', flexDirection: 'column' }}&gt;&#10;        &lt;Text style={{ fontSize: 15, color: '#8B97A8', letterSpacing: 1, marginBottom: 12 }}&gt;加权训练：损失函数逐点最小化解&lt;/Text&gt;&#10;&#10;        &lt;Box style={{ width: 600, background: '#F7F9FC', padding: '24px 30px 18px 30px', display: 'flex', flexDirection: 'column', alignItems: 'center' }}&gt;&#10;            &lt;Box style={{ display: 'flex', flexDirection: 'row', alignItems: 'center', gap: 18, height: 92 }}&gt;&#10;                &lt;Text style={{ fontSize: 25, color: '#1A2230' }}&gt;p̂&lt;span style={{ fontSize: 16 }}&gt;w&lt;/span&gt;(x) =&lt;/Text&gt;&#10;                &lt;Box style={{ display: 'flex', flexDirection: 'column', alignItems: 'center', gap: 5 }}&gt;&#10;                    &lt;Text style={{ fontSize: 25, color: '#1A2230', lineHeight: 1.2 }}&gt;w · η(x)&lt;/Text&gt;&#10;                    &lt;Box style={{ height: 2, width: 236, background: '#1A2230' }} /&gt;&#10;                    &lt;Text style={{ fontSize: 25, color: '#1A2230', lineHeight: 1.2 }}&gt;w · η(x) + 1 − η(x)&lt;/Text&gt;&#10;                &lt;/Box&gt;&#10;            &lt;/Box&gt;&#10;            &lt;Text style={{ fontSize: 13, color: '#8B97A8', marginTop: 10 }}&gt;式 (4-5)　w 为正类权重，η 为真实后验&lt;/Text&gt;&#10;        &lt;/Box&gt;&#10;&#10;        &lt;Text style={{ fontSize: 15, color: '#8B97A8', margin: '16px 0 12px 0' }}&gt;令 p̂ ≥ 0.5，两边同乘分母并化简&lt;/Text&gt;&#10;&#10;        &lt;Box style={{ width: 600, background: '#F7F9FC', padding: '24px 30px 18px 30px', display: 'flex', flexDirection: 'column', alignItems: 'center' }}&gt;&#10;            &lt;Box style={{ display: 'flex', flexDirection: 'row', alignItems: 'center', gap: 16, height: 92 }}&gt;&#10;                &lt;Text style={{ fontSize: 25, color: '#1A2230' }}&gt;η(x) ≥&lt;/Text&gt;&#10;                &lt;Box style={{ display: 'flex', flexDirection: 'column', alignItems: 'center', gap: 5 }}&gt;&#10;                    &lt;Text style={{ fontSize: 25, color: '#1A2230', lineHeight: 1.2 }}&gt;1&lt;/Text&gt;&#10;                    &lt;Box style={{ height: 2, width: 92, background: '#1A2230' }} /&gt;&#10;                    &lt;Text style={{ fontSize: 25, color: '#1A2230', lineHeight: 1.2 }}&gt;1 + w&lt;/Text&gt;&#10;                &lt;/Box&gt;&#10;            &lt;/Box&gt;&#10;            &lt;Text style={{ fontSize: 13, color: '#8B97A8', marginTop: 10 }}&gt;式 (4-6)　阈值被等比例改写，与 w 一一对应&lt;/Text&gt;&#10;        &lt;/Box&gt;&#10;&#10;        &lt;Text style={{ fontSize: 17, color: '#4A5568', marginTop: 16, lineHeight: 1.5 }}&gt;&#10;            取 w = ρ = 10，得 η* = 1/(1+ρ) = &lt;span style={{ fontWeight: 'bold', color: '#1E4FA8' }}&gt;0.091&lt;/span&gt; —— 正是上一页那道门槛&#10;        &lt;/Text&gt;&#10;    &lt;/Box&gt;&#10;&#10;    &lt;Box style={{ position: 'absolute', left: 760, top: 128, width: 420, display: 'flex', flexDirection: 'column' }}&gt;&#10;        &lt;Text style={{ fontSize: 15, color: '#8B97A8', letterSpacing: 1, marginBottom: 22 }}&gt;这意味着什么&lt;/Text&gt;&#10;&#10;        &lt;Box style={{ display: 'flex', flexDirection: 'row', gap: 16, marginBottom: 24 }}&gt;&#10;            &lt;Text style={{ fontSize: 22, fontWeight: 'bold', color: '#3D7BD9', lineHeight: 1.3 }}&gt;01&lt;/Text&gt;&#10;            &lt;Text style={{ fontSize: 18, color: '#1A2230', lineHeight: 1.55 }}&gt;加权 + 0.5 阈值，与不加权 + 0.091 阈值，给出&lt;span style={{ fontWeight: 'bold' }}&gt;完全相同的决策&lt;/span&gt;&lt;/Text&gt;&#10;        &lt;/Box&gt;&#10;&#10;        &lt;Box style={{ height: 1, background: '#E5E7EB', marginBottom: 24 }} /&gt;&#10;&#10;        &lt;Box style={{ display: 'flex', flexDirection: 'row', gap: 16, marginBottom: 24 }}&gt;&#10;            &lt;Text style={{ fontSize: 22, fontWeight: 'bold', color: '#3D7BD9', lineHeight: 1.3 }}&gt;02&lt;/Text&gt;&#10;            &lt;Text style={{ fontSize: 18, color: '#1A2230', lineHeight: 1.55 }}&gt;但它成立的前提是概率校准，而加权本身会破坏校准（Brier 0.24 对 0.14）&lt;/Text&gt;&#10;        &lt;/Box&gt;&#10;&#10;        &lt;Box style={{ height: 1, background: '#E5E7EB', marginBottom: 24 }} /&gt;&#10;&#10;        &lt;Box style={{ display: 'flex', flexDirection: 'row', gap: 16 }}&gt;&#10;            &lt;Text style={{ fontSize: 22, fontWeight: 'bold', color: '#3D7BD9', lineHeight: 1.3 }}&gt;03&lt;/Text&gt;&#10;            &lt;Text style={{ fontSize: 18, color: '#1A2230', lineHeight: 1.55 }}&gt;所以「测加权」与「测阈值」&lt;span style={{ fontWeight: 'bold' }}&gt;不能互相替代&lt;/span&gt;，必须各设一组消融&lt;/Text&gt;&#10;        &lt;/Box&gt;&#10;    &lt;/Box&gt;&#10;&#10;    &lt;Box style={{ position: 'absolute', left: 100, top: 592, width: 1080, background: '#E8EFF8', padding: '18px 28px' }}&gt;&#10;        &lt;Text style={{ fontSize: 19, color: '#1E4FA8', lineHeight: 1.5 }}&gt;&#10;            若阈值已经单独搜索过一遍，加权所做的功就被重复计算了一次 —— 这是本文实验设计的方法论前提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" name=""/>
          <p:cNvSpPr/>
          <p:nvPr/>
        </p:nvSpPr>
        <p:spPr>
          <a:xfrm rot="0" flipH="0" flipV="0">
            <a:off x="0" y="0"/>
            <a:ext cx="12192000" cy="7239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952500" y="17145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加权与阈值移动是等价的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1068050" y="276225"/>
            <a:ext cx="552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EC"/>
                </a:solidFill>
                <a:latin typeface="Microsoft YaHei"/>
                <a:ea typeface="Microsoft YaHei"/>
              </a:rPr>
              <a:t>03 / 06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952500" y="1219200"/>
            <a:ext cx="571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8B97A8"/>
                </a:solidFill>
                <a:latin typeface="Microsoft YaHei"/>
                <a:ea typeface="Microsoft YaHei"/>
              </a:rPr>
              <a:t>加权训练：损失函数逐点最小化解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952500" y="1504950"/>
            <a:ext cx="5715000" cy="1524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2200275" y="2028825"/>
            <a:ext cx="8001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>
                <a:solidFill>
                  <a:srgbClr val="1A2230"/>
                </a:solidFill>
                <a:latin typeface="Microsoft YaHei"/>
                <a:ea typeface="Microsoft YaHei"/>
              </a:rPr>
              <a:t>p̂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w</a:t>
            </a:r>
            <a:r>
              <a:rPr lang="en-US" sz="1875">
                <a:solidFill>
                  <a:srgbClr val="1A2230"/>
                </a:solidFill>
                <a:latin typeface="Microsoft YaHei"/>
                <a:ea typeface="Microsoft YaHei"/>
              </a:rPr>
              <a:t>(x) =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3886200" y="1771650"/>
            <a:ext cx="819150" cy="3429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875">
                <a:solidFill>
                  <a:srgbClr val="1A2230"/>
                </a:solidFill>
                <a:latin typeface="Microsoft YaHei"/>
                <a:ea typeface="Microsoft YaHei"/>
              </a:rPr>
              <a:t>w · η(x)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3171825" y="2162175"/>
            <a:ext cx="2247900" cy="19050"/>
          </a:xfrm>
          <a:prstGeom prst="rect">
            <a:avLst/>
          </a:prstGeom>
          <a:solidFill>
            <a:srgbClr val="1A2230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3286125" y="2228850"/>
            <a:ext cx="2019300" cy="3429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875">
                <a:solidFill>
                  <a:srgbClr val="1A2230"/>
                </a:solidFill>
                <a:latin typeface="Microsoft YaHei"/>
                <a:ea typeface="Microsoft YaHei"/>
              </a:rPr>
              <a:t>w · η(x) + 1 − η(x)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2724150" y="2705100"/>
            <a:ext cx="2181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式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(4-5)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　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w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为正类权重，η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为真实后验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952500" y="3181350"/>
            <a:ext cx="571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令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p̂ ≥ 0.5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，两边同乘分母并化简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952500" y="3467100"/>
            <a:ext cx="5715000" cy="1524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2962275" y="3990975"/>
            <a:ext cx="6762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>
                <a:solidFill>
                  <a:srgbClr val="1A2230"/>
                </a:solidFill>
                <a:latin typeface="Microsoft YaHei"/>
                <a:ea typeface="Microsoft YaHei"/>
              </a:rPr>
              <a:t>η(x) ≥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4162425" y="3733800"/>
            <a:ext cx="142875" cy="3429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875">
                <a:solidFill>
                  <a:srgbClr val="1A2230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3790950" y="4124325"/>
            <a:ext cx="876300" cy="19050"/>
          </a:xfrm>
          <a:prstGeom prst="rect">
            <a:avLst/>
          </a:prstGeom>
          <a:solidFill>
            <a:srgbClr val="1A2230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3905250" y="4191000"/>
            <a:ext cx="647700" cy="3429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875">
                <a:solidFill>
                  <a:srgbClr val="1A2230"/>
                </a:solidFill>
                <a:latin typeface="Microsoft YaHei"/>
                <a:ea typeface="Microsoft YaHei"/>
              </a:rPr>
              <a:t>1 + w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2571750" y="4667250"/>
            <a:ext cx="2476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式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(4-6)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　阈值被等比例改写，与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w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一一对应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952500" y="5143500"/>
            <a:ext cx="57150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取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w = ρ = 10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，得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η* = 1/(1+ρ) = </a:t>
            </a:r>
            <a:r>
              <a:rPr lang="en-US" sz="1275" b="1">
                <a:solidFill>
                  <a:srgbClr val="1E4FA8"/>
                </a:solidFill>
                <a:latin typeface="Microsoft YaHei"/>
                <a:ea typeface="Microsoft YaHei"/>
              </a:rPr>
              <a:t>0.091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正是上一页那道门槛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239000" y="1219200"/>
            <a:ext cx="400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8B97A8"/>
                </a:solidFill>
                <a:latin typeface="Microsoft YaHei"/>
                <a:ea typeface="Microsoft YaHei"/>
              </a:rPr>
              <a:t>这意味着什么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7239000" y="1600200"/>
            <a:ext cx="238125" cy="638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650" b="1">
                <a:solidFill>
                  <a:srgbClr val="3D7BD9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7629525" y="1600200"/>
            <a:ext cx="360997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加权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+ 0.5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阈值，与不加权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+ 0.091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阈值，给出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完全相同的决策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7239000" y="2466975"/>
            <a:ext cx="40005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7239000" y="2705100"/>
            <a:ext cx="238125" cy="638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650" b="1">
                <a:solidFill>
                  <a:srgbClr val="3D7BD9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629525" y="2705100"/>
            <a:ext cx="360997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但它成立的前提是概率校准，而加权本身会破坏校准（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Brier 0.24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对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0.14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7239000" y="3571875"/>
            <a:ext cx="40005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7239000" y="3810000"/>
            <a:ext cx="238125" cy="638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650" b="1">
                <a:solidFill>
                  <a:srgbClr val="3D7BD9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7629525" y="3810000"/>
            <a:ext cx="360997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所以「测加权」与「测阈值」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不能互相替代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，必须各设一组消融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952500" y="5638800"/>
            <a:ext cx="10287000" cy="6762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219200" y="5810250"/>
            <a:ext cx="97536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若阈值已经单独搜索过一遍，加权所做的功就被重复计算了一次</a:t>
            </a:r>
            <a:r>
              <a:rPr lang="en-US" sz="1425">
                <a:solidFill>
                  <a:srgbClr val="1E4FA8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这是本文实验设计的方法论前提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64" name="" descr="&lt;Slide style={{ width: 1280, height: 720, background: '#FFFFFF', padding: 0, position: 'relative' }}&gt;&#10;    &lt;Box style={{ position: 'absolute', left: 0, top: 0, width: 1280, height: 76, background: '#1E4FA8', display: 'flex', flexDirection: 'row', alignItems: 'center', justifyContent: 'space-between', paddingLeft: 100, paddingRight: 60 }}&gt;&#10;        &lt;Text style={{ fontSize: 34, fontWeight: 'bold', color: '#FFFFFF' }}&gt;等价性成立，但模型没赢过零信息策略&lt;/Text&gt;&#10;        &lt;Text style={{ fontSize: 15, color: '#B9CDEC', letterSpacing: 1 }}&gt;04 / 06&lt;/Text&gt;&#10;    &lt;/Box&gt;&#10;&#10;    &lt;Box style={{ position: 'absolute', left: 100, top: 118, width: 500, display: 'flex', flexDirection: 'column' }}&gt;&#10;        &lt;Text style={{ fontSize: 15, color: '#8B97A8', letterSpacing: 1, marginBottom: 6 }}&gt;E2 消融 · 同一模型、同一测试集&lt;/Text&gt;&#10;        &lt;Text style={{ fontSize: 20, fontWeight: 'bold', color: '#1A2230', marginBottom: 14 }}&gt;加权前后，工作点几乎没动&lt;/Text&gt;&#10;&#10;        &lt;Box style={{ display: 'flex', flexDirection: 'row', justifyContent: 'space-between', alignItems: 'flex-end', padding: '6px 0 8px 0', borderBottom: '1px solid #E5E7EB' }}&gt;&#10;            &lt;Text style={{ fontSize: 15, color: '#8B97A8' }}&gt;指标&lt;/Text&gt;&#10;            &lt;Text style={{ fontSize: 15, color: '#8B97A8' }}&gt;不加权　→　加权 ρ=10&lt;/Text&gt;&#10;        &lt;/Box&gt;&#10;&#10;        &lt;Box style={{ display: 'flex', flexDirection: 'row', justifyContent: 'space-between', alignItems: 'center', padding: '15px 0', borderBottom: '1px solid #E5E7EB' }}&gt;&#10;            &lt;Text style={{ fontSize: 18, color: '#4A5568' }}&gt;召回率&lt;/Text&gt;&#10;            &lt;Box style={{ display: 'flex', flexDirection: 'row', alignItems: 'center', gap: 10 }}&gt;&#10;                &lt;Text style={{ fontSize: 20, color: '#8B97A8' }}&gt;0.7256&lt;/Text&gt;&#10;                &lt;Text style={{ fontSize: 16, color: '#B0BAC7' }}&gt;→&lt;/Text&gt;&#10;                &lt;Text style={{ fontSize: 24, fontWeight: 'bold', color: '#1A2230' }}&gt;0.7195&lt;/Text&gt;&#10;            &lt;/Box&gt;&#10;        &lt;/Box&gt;&#10;&#10;        &lt;Box style={{ display: 'flex', flexDirection: 'row', justifyContent: 'space-between', alignItems: 'center', padding: '15px 0', borderBottom: '1px solid #E5E7EB' }}&gt;&#10;            &lt;Text style={{ fontSize: 18, color: '#4A5568' }}&gt;最优阈值&lt;/Text&gt;&#10;            &lt;Box style={{ display: 'flex', flexDirection: 'row', alignItems: 'center', gap: 10 }}&gt;&#10;                &lt;Text style={{ fontSize: 20, color: '#8B97A8' }}&gt;0.1193&lt;/Text&gt;&#10;                &lt;Text style={{ fontSize: 16, color: '#B0BAC7' }}&gt;→&lt;/Text&gt;&#10;                &lt;Text style={{ fontSize: 24, fontWeight: 'bold', color: '#1E4FA8' }}&gt;0.4950&lt;/Text&gt;&#10;            &lt;/Box&gt;&#10;        &lt;/Box&gt;&#10;&#10;        &lt;Box style={{ display: 'flex', flexDirection: 'row', justifyContent: 'space-between', alignItems: 'center', padding: '15px 0', borderBottom: '1px solid #E5E7EB' }}&gt;&#10;            &lt;Text style={{ fontSize: 18, color: '#4A5568' }}&gt;预警人数&lt;/Text&gt;&#10;            &lt;Box style={{ display: 'flex', flexDirection: 'row', alignItems: 'center', gap: 10 }}&gt;&#10;                &lt;Text style={{ fontSize: 20, color: '#8B97A8' }}&gt;299&lt;/Text&gt;&#10;                &lt;Text style={{ fontSize: 16, color: '#B0BAC7' }}&gt;→&lt;/Text&gt;&#10;                &lt;Text style={{ fontSize: 24, fontWeight: 'bold', color: '#1A2230' }}&gt;292&lt;/Text&gt;&#10;            &lt;/Box&gt;&#10;        &lt;/Box&gt;&#10;&#10;        &lt;Text style={{ fontSize: 16, color: '#4A5568', marginTop: 16, lineHeight: 1.6 }}&gt;&#10;            阈值被反向抬高了 4 倍，工作点却退回原处 —— 加权做的功，被阈值搜索抵消了&#10;        &lt;/Text&gt;&#10;    &lt;/Box&gt;&#10;&#10;    &lt;Box style={{ position: 'absolute', left: 668, top: 104, width: 512, display: 'flex', flexDirection: 'column' }}&gt;&#10;        &lt;Image src=&quot;assets/cost_curve.png&quot; style={{ width: 512, height: 319 }} /&gt;&#10;        &lt;Text style={{ fontSize: 13, color: '#8B97A8', marginTop: 10, lineHeight: 1.55 }}&gt;&#10;            图 5-2　测试集代价-阈值曲线（同源数据重绘）。左端即「全部预警」80.05 元；曲线在 [0, 0.5] 近乎平坦，&#10;            最低点 75.91 元是事后在测试集上挑的，不能用&#10;        &lt;/Text&gt;&#10;    &lt;/Box&gt;&#10;&#10;    &lt;Box style={{ position: 'absolute', left: 100, top: 546, width: 1080, background: '#F7F9FC', borderLeft: '3px solid #1E4FA8', padding: '18px 28px' }}&gt;&#10;        &lt;Text style={{ fontSize: 19, color: '#1A2230', lineHeight: 1.55 }}&gt;&#10;            但同一测试集上，「全部预警」人均代价 &lt;span style={{ fontWeight: 'bold' }}&gt;80.05 元&lt;/span&gt;，本文流程 &lt;span style={{ fontWeight: 'bold' }}&gt;80.41 元&lt;/span&gt; ——&#10;            &lt;span style={{ color: '#4A5568' }}&gt;高 0.36 元。模型目前的价值只在名单更短：374 人对 822 人。&lt;/span&gt;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0" y="0"/>
            <a:ext cx="12192000" cy="7239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952500" y="171450"/>
            <a:ext cx="55054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等价性成立，但模型没赢过零信息策略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11068050" y="276225"/>
            <a:ext cx="552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EC"/>
                </a:solidFill>
                <a:latin typeface="Microsoft YaHei"/>
                <a:ea typeface="Microsoft YaHei"/>
              </a:rPr>
              <a:t>04 / 06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952500" y="1123950"/>
            <a:ext cx="4762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E2 </a:t>
            </a:r>
            <a:r>
              <a:rPr lang="zh-CN" sz="1125" spc="75">
                <a:solidFill>
                  <a:srgbClr val="8B97A8"/>
                </a:solidFill>
                <a:latin typeface="Microsoft YaHei"/>
                <a:ea typeface="Microsoft YaHei"/>
              </a:rPr>
              <a:t>消融</a:t>
            </a:r>
            <a:r>
              <a:rPr lang="en-US" sz="1125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spc="75">
                <a:solidFill>
                  <a:srgbClr val="8B97A8"/>
                </a:solidFill>
                <a:latin typeface="Microsoft YaHei"/>
                <a:ea typeface="Microsoft YaHei"/>
              </a:rPr>
              <a:t>同一模型、同一测试集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952500" y="1352550"/>
            <a:ext cx="476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加权前后，工作点几乎没动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952500" y="1714500"/>
            <a:ext cx="4762500" cy="323850"/>
          </a:xfrm>
          <a:custGeom>
            <a:pathLst>
              <a:path w="500" h="34">
                <a:moveTo>
                  <a:pt x="0" y="33"/>
                </a:moveTo>
                <a:lnTo>
                  <a:pt x="500" y="33"/>
                </a:lnTo>
                <a:lnTo>
                  <a:pt x="500" y="34"/>
                </a:lnTo>
                <a:lnTo>
                  <a:pt x="0" y="34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952500" y="17716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指标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4162425" y="1771650"/>
            <a:ext cx="1552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不加权　→　加权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ρ=10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952500" y="2028825"/>
            <a:ext cx="4762500" cy="581025"/>
          </a:xfrm>
          <a:custGeom>
            <a:pathLst>
              <a:path w="500" h="61">
                <a:moveTo>
                  <a:pt x="0" y="60"/>
                </a:moveTo>
                <a:lnTo>
                  <a:pt x="500" y="60"/>
                </a:lnTo>
                <a:lnTo>
                  <a:pt x="500" y="61"/>
                </a:lnTo>
                <a:lnTo>
                  <a:pt x="0" y="6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952500" y="2209800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召回率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3990975" y="2200275"/>
            <a:ext cx="609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8B97A8"/>
                </a:solidFill>
                <a:latin typeface="Microsoft YaHei"/>
                <a:ea typeface="Microsoft YaHei"/>
              </a:rPr>
              <a:t>0.7256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4695825" y="221932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B0BAC7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4943475" y="2171700"/>
            <a:ext cx="771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0.7195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952500" y="2600325"/>
            <a:ext cx="4762500" cy="581025"/>
          </a:xfrm>
          <a:custGeom>
            <a:pathLst>
              <a:path w="500" h="61">
                <a:moveTo>
                  <a:pt x="0" y="60"/>
                </a:moveTo>
                <a:lnTo>
                  <a:pt x="500" y="60"/>
                </a:lnTo>
                <a:lnTo>
                  <a:pt x="500" y="61"/>
                </a:lnTo>
                <a:lnTo>
                  <a:pt x="0" y="6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952500" y="27813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最优阈值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3990975" y="2771775"/>
            <a:ext cx="609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8B97A8"/>
                </a:solidFill>
                <a:latin typeface="Microsoft YaHei"/>
                <a:ea typeface="Microsoft YaHei"/>
              </a:rPr>
              <a:t>0.1193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4695825" y="279082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B0BAC7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943475" y="2743200"/>
            <a:ext cx="771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E4FA8"/>
                </a:solidFill>
                <a:latin typeface="Microsoft YaHei"/>
                <a:ea typeface="Microsoft YaHei"/>
              </a:rPr>
              <a:t>0.4950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952500" y="3171825"/>
            <a:ext cx="4762500" cy="581025"/>
          </a:xfrm>
          <a:custGeom>
            <a:pathLst>
              <a:path w="500" h="61">
                <a:moveTo>
                  <a:pt x="0" y="60"/>
                </a:moveTo>
                <a:lnTo>
                  <a:pt x="500" y="60"/>
                </a:lnTo>
                <a:lnTo>
                  <a:pt x="500" y="61"/>
                </a:lnTo>
                <a:lnTo>
                  <a:pt x="0" y="6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952500" y="33528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预警人数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600575" y="3343275"/>
            <a:ext cx="342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8B97A8"/>
                </a:solidFill>
                <a:latin typeface="Microsoft YaHei"/>
                <a:ea typeface="Microsoft YaHei"/>
              </a:rPr>
              <a:t>299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5038725" y="336232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B0BAC7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5286375" y="3314700"/>
            <a:ext cx="4286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292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952500" y="3895725"/>
            <a:ext cx="4762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阈值被反向抬高了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倍，工作点却退回原处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加权做的功，被阈值搜索抵消了</a:t>
            </a:r>
            <a:endParaRPr/>
          </a:p>
        </p:txBody>
      </p:sp>
      <p:pic>
        <p:nvPicPr>
          <p:cNvPr id="90" name=""/>
          <p:cNvPicPr>
            <a:picLocks noChangeAspect="1"/>
          </p:cNvPicPr>
          <p:nvPr/>
        </p:nvPicPr>
        <p:blipFill>
          <a:blip r:embed="rId1"/>
          <a:srcRect l="0" t="2" r="0" b="2"/>
          <a:stretch>
            <a:fillRect/>
          </a:stretch>
        </p:blipFill>
        <p:spPr>
          <a:xfrm rot="0" flipH="0" flipV="0">
            <a:off x="6362700" y="990600"/>
            <a:ext cx="4876800" cy="3038475"/>
          </a:xfrm>
          <a:prstGeom prst="rect">
            <a:avLst/>
          </a:prstGeom>
          <a:ln/>
        </p:spPr>
      </p:pic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362700" y="4124325"/>
            <a:ext cx="48768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图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5-2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　测试集代价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-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阈值曲线（同源数据重绘）。左端即「全部预警」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80.05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元；曲线在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[0, 0.5]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近乎平坦，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最低点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75.91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元是事后在测试集上挑的，不能用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981075" y="5200650"/>
            <a:ext cx="10258425" cy="10191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93" name=""/>
          <p:cNvSpPr/>
          <p:nvPr/>
        </p:nvSpPr>
        <p:spPr>
          <a:xfrm rot="0" flipH="0" flipV="0">
            <a:off x="952500" y="5200650"/>
            <a:ext cx="10287000" cy="1019175"/>
          </a:xfrm>
          <a:custGeom>
            <a:pathLst>
              <a:path w="1080" h="107">
                <a:moveTo>
                  <a:pt x="0" y="0"/>
                </a:moveTo>
                <a:lnTo>
                  <a:pt x="3" y="0"/>
                </a:lnTo>
                <a:lnTo>
                  <a:pt x="3" y="107"/>
                </a:lnTo>
                <a:lnTo>
                  <a:pt x="0" y="107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247775" y="5372100"/>
            <a:ext cx="972502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但同一测试集上，「全部预警」人均代价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80.05 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元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，本文流程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80.41 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元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——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高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0.36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元。模型目前的价值只在名单更短：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374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人对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822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人。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95" name="" descr="&lt;Slide style={{ width: 1280, height: 720, background: '#FFFFFF', padding: 0, position: 'relative' }}&gt;&#10;    &lt;Box style={{ position: 'absolute', left: 0, top: 0, width: 1280, height: 76, background: '#1E4FA8', display: 'flex', flexDirection: 'row', alignItems: 'center', justifyContent: 'space-between', paddingLeft: 100, paddingRight: 60 }}&gt;&#10;        &lt;Text style={{ fontSize: 34, fontWeight: 'bold', color: '#FFFFFF' }}&gt;真实数据：排序很好，决策却退化了&lt;/Text&gt;&#10;        &lt;Text style={{ fontSize: 15, color: '#B9CDEC', letterSpacing: 1 }}&gt;05 / 06&lt;/Text&gt;&#10;    &lt;/Box&gt;&#10;&#10;    &lt;Box style={{ position: 'absolute', left: 100, top: 116, width: 500, display: 'flex', flexDirection: 'column' }}&gt;&#10;        &lt;Text style={{ fontSize: 15, color: '#8B97A8', letterSpacing: 1, marginBottom: 10 }}&gt;症状 · 同一套流程搬到 KDD Cup 2015&lt;/Text&gt;&#10;&#10;        &lt;Box style={{ display: 'flex', flexDirection: 'row', justifyContent: 'space-between', alignItems: 'baseline', padding: '13px 0', borderBottom: '1px solid #E5E7EB' }}&gt;&#10;            &lt;Text style={{ fontSize: 17, color: '#4A5568' }}&gt;排序能力　ROC-AUC&lt;/Text&gt;&#10;            &lt;Text style={{ fontSize: 34, fontWeight: 'bold', color: '#1A2230', lineHeight: 1.1 }}&gt;0.84&lt;/Text&gt;&#10;        &lt;/Box&gt;&#10;&#10;        &lt;Box style={{ display: 'flex', flexDirection: 'row', justifyContent: 'space-between', alignItems: 'baseline', padding: '13px 0', borderBottom: '1px solid #E5E7EB' }}&gt;&#10;            &lt;Text style={{ fontSize: 17, color: '#4A5568' }}&gt;预警比例　被判高风险&lt;/Text&gt;&#10;            &lt;Text style={{ fontSize: 34, fontWeight: 'bold', color: '#D9534F', lineHeight: 1.1 }}&gt;98.9%&lt;/Text&gt;&#10;        &lt;/Box&gt;&#10;&#10;        &lt;Box style={{ display: 'flex', flexDirection: 'row', justifyContent: 'space-between', alignItems: 'baseline', padding: '13px 0', borderBottom: '1px solid #E5E7EB' }}&gt;&#10;            &lt;Text style={{ fontSize: 17, color: '#4A5568' }}&gt;相对「全部预警」的成本下降&lt;/Text&gt;&#10;            &lt;Text style={{ fontSize: 34, fontWeight: 'bold', color: '#1A2230', lineHeight: 1.1 }}&gt;0.55%&lt;/Text&gt;&#10;        &lt;/Box&gt;&#10;&#10;        &lt;Text style={{ fontSize: 16, color: '#4A5568', marginTop: 20, lineHeight: 1.65 }}&gt;&#10;            原因是基率：这个数据集辍学率 &lt;span style={{ fontWeight: 'bold', color: '#1A2230' }}&gt;79.3%&lt;/span&gt;，而 ρ=10 对应的门槛是 0.091 ——&#10;            &lt;span style={{ fontWeight: 'bold', color: '#1A2230' }}&gt;门槛落在概率分布的左尾之外&lt;/span&gt;，于是「按阈值切」这个动作本身失效了&#10;        &lt;/Text&gt;&#10;    &lt;/Box&gt;&#10;&#10;    &lt;Box style={{ position: 'absolute', left: 660, top: 116, width: 520, display: 'flex', flexDirection: 'column' }}&gt;&#10;        &lt;Text style={{ fontSize: 15, color: '#8B97A8', letterSpacing: 1, marginBottom: 10 }}&gt;处方 · 补两件评估工具&lt;/Text&gt;&#10;&#10;        &lt;Box style={{ background: '#F7F9FC', padding: '20px 24px', display: 'flex', flexDirection: 'column' }}&gt;&#10;            &lt;Box style={{ display: 'flex', flexDirection: 'row', alignItems: 'baseline', gap: 10, marginBottom: 10 }}&gt;&#10;                &lt;Text style={{ fontSize: 16, fontWeight: 'bold', color: '#3D7BD9' }}&gt;01&lt;/Text&gt;&#10;                &lt;Text style={{ fontSize: 18, fontWeight: 'bold', color: '#1A2230' }}&gt;把代价比降到 1&lt;/Text&gt;&#10;            &lt;/Box&gt;&#10;            &lt;Text style={{ fontSize: 16, color: '#4A5568', lineHeight: 1.6 }}&gt;&#10;                ρ 由 10 调到 1，相对下降回到 &lt;span style={{ fontSize: 22, fontWeight: 'bold', color: '#1E4FA8' }}&gt;29.2%&lt;/span&gt;&#10;            &lt;/Text&gt;&#10;            &lt;Text style={{ fontSize: 14, color: '#8B97A8', marginTop: 6, lineHeight: 1.55 }}&gt;&#10;                说明不是方法错了，是参数与基率没对齐&#10;            &lt;/Text&gt;&#10;        &lt;/Box&gt;&#10;&#10;        &lt;Box style={{ height: 18 }} /&gt;&#10;&#10;        &lt;Box style={{ background: '#F7F9FC', padding: '20px 24px', display: 'flex', flexDirection: 'column' }}&gt;&#10;            &lt;Box style={{ display: 'flex', flexDirection: 'row', alignItems: 'baseline', gap: 10, marginBottom: 10 }}&gt;&#10;                &lt;Text style={{ fontSize: 16, fontWeight: 'bold', color: '#3D7BD9' }}&gt;02&lt;/Text&gt;&#10;                &lt;Text style={{ fontSize: 18, fontWeight: 'bold', color: '#1A2230' }}&gt;换决策形式：给定容量取前 K&lt;/Text&gt;&#10;            &lt;/Box&gt;&#10;            &lt;Text style={{ fontSize: 16, color: '#4A5568', lineHeight: 1.6 }}&gt;&#10;                70% 容量下，相对随机挑人省 &lt;span style={{ fontSize: 22, fontWeight: 'bold', color: '#1E4FA8' }}&gt;39.0%&lt;/span&gt;&#10;            &lt;/Text&gt;&#10;            &lt;Text style={{ fontSize: 16, color: '#4A5568', lineHeight: 1.6, marginTop: 4 }}&gt;&#10;                名单命中率 &lt;span style={{ fontSize: 22, fontWeight: 'bold', color: '#1E4FA8' }}&gt;92.1%&lt;/span&gt;，基率只有 79.3%&#10;            &lt;/Text&gt;&#10;        &lt;/Box&gt;&#10;    &lt;/Box&gt;&#10;&#10;    &lt;Box style={{ position: 'absolute', left: 100, top: 536, width: 1080, background: '#E8EFF8', padding: '18px 28px' }}&gt;&#10;        &lt;Text style={{ fontSize: 19, color: '#1E4FA8', lineHeight: 1.5 }}&gt;&#10;            排序好、决策废，这两件事可以同时成立 —— AUC 只看排序，代价只看决策，中间隔着基率&#10;        &lt;/Text&gt;&#10;    &lt;/Box&gt;&#10;&#10;    &lt;Text style={{ position: 'absolute', left: 100, bottom: 30, fontSize: 13, color: '#B0BAC7' }}&gt;KDD Cup 2015 训练集 · 120,542 条选课 / 815.7 万条行为事件 / 39 门课程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7" name=""/>
          <p:cNvSpPr/>
          <p:nvPr/>
        </p:nvSpPr>
        <p:spPr>
          <a:xfrm rot="0" flipH="0" flipV="0">
            <a:off x="0" y="0"/>
            <a:ext cx="12192000" cy="7239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952500" y="171450"/>
            <a:ext cx="5181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真实数据：排序很好，决策却退化了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11068050" y="276225"/>
            <a:ext cx="552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EC"/>
                </a:solidFill>
                <a:latin typeface="Microsoft YaHei"/>
                <a:ea typeface="Microsoft YaHei"/>
              </a:rPr>
              <a:t>05 / 06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952500" y="1104900"/>
            <a:ext cx="4762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8B97A8"/>
                </a:solidFill>
                <a:latin typeface="Microsoft YaHei"/>
                <a:ea typeface="Microsoft YaHei"/>
              </a:rPr>
              <a:t>症状</a:t>
            </a:r>
            <a:r>
              <a:rPr lang="en-US" sz="1125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spc="75">
                <a:solidFill>
                  <a:srgbClr val="8B97A8"/>
                </a:solidFill>
                <a:latin typeface="Microsoft YaHei"/>
                <a:ea typeface="Microsoft YaHei"/>
              </a:rPr>
              <a:t>同一套流程搬到</a:t>
            </a:r>
            <a:r>
              <a:rPr lang="en-US" sz="1125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 KDD Cup 2015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952500" y="1371600"/>
            <a:ext cx="4762500" cy="695325"/>
          </a:xfrm>
          <a:custGeom>
            <a:pathLst>
              <a:path w="500" h="73">
                <a:moveTo>
                  <a:pt x="0" y="72"/>
                </a:moveTo>
                <a:lnTo>
                  <a:pt x="500" y="72"/>
                </a:lnTo>
                <a:lnTo>
                  <a:pt x="500" y="73"/>
                </a:lnTo>
                <a:lnTo>
                  <a:pt x="0" y="73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952500" y="1495425"/>
            <a:ext cx="1571625" cy="428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排序能力　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ROC-AUC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5019675" y="1495425"/>
            <a:ext cx="695325" cy="428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550" b="1">
                <a:solidFill>
                  <a:srgbClr val="1A2230"/>
                </a:solidFill>
                <a:latin typeface="Microsoft YaHei"/>
                <a:ea typeface="Microsoft YaHei"/>
              </a:rPr>
              <a:t>0.84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952500" y="2057400"/>
            <a:ext cx="4762500" cy="695325"/>
          </a:xfrm>
          <a:custGeom>
            <a:pathLst>
              <a:path w="500" h="73">
                <a:moveTo>
                  <a:pt x="0" y="72"/>
                </a:moveTo>
                <a:lnTo>
                  <a:pt x="500" y="72"/>
                </a:lnTo>
                <a:lnTo>
                  <a:pt x="500" y="73"/>
                </a:lnTo>
                <a:lnTo>
                  <a:pt x="0" y="73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952500" y="2181225"/>
            <a:ext cx="1619250" cy="428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预警比例　被判高风险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4714875" y="2181225"/>
            <a:ext cx="1000125" cy="428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550" b="1">
                <a:solidFill>
                  <a:srgbClr val="D9534F"/>
                </a:solidFill>
                <a:latin typeface="Microsoft YaHei"/>
                <a:ea typeface="Microsoft YaHei"/>
              </a:rPr>
              <a:t>98.9%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952500" y="2743200"/>
            <a:ext cx="4762500" cy="695325"/>
          </a:xfrm>
          <a:custGeom>
            <a:pathLst>
              <a:path w="500" h="73">
                <a:moveTo>
                  <a:pt x="0" y="72"/>
                </a:moveTo>
                <a:lnTo>
                  <a:pt x="500" y="72"/>
                </a:lnTo>
                <a:lnTo>
                  <a:pt x="500" y="73"/>
                </a:lnTo>
                <a:lnTo>
                  <a:pt x="0" y="73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952500" y="2867025"/>
            <a:ext cx="2105025" cy="428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相对「全部预警」的成本下降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4714875" y="2867025"/>
            <a:ext cx="1000125" cy="428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550" b="1">
                <a:solidFill>
                  <a:srgbClr val="1A2230"/>
                </a:solidFill>
                <a:latin typeface="Microsoft YaHei"/>
                <a:ea typeface="Microsoft YaHei"/>
              </a:rPr>
              <a:t>0.55%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952500" y="3619500"/>
            <a:ext cx="476250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原因是基率：这个数据集辍学率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79.3%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ρ=10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对应的门槛是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0.091 ——</a:t>
            </a: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门槛落在概率分布的左尾之外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，于是「按阈值切」这个动作本身失效了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286500" y="1104900"/>
            <a:ext cx="495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8B97A8"/>
                </a:solidFill>
                <a:latin typeface="Microsoft YaHei"/>
                <a:ea typeface="Microsoft YaHei"/>
              </a:rPr>
              <a:t>处方</a:t>
            </a:r>
            <a:r>
              <a:rPr lang="en-US" sz="1125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spc="75">
                <a:solidFill>
                  <a:srgbClr val="8B97A8"/>
                </a:solidFill>
                <a:latin typeface="Microsoft YaHei"/>
                <a:ea typeface="Microsoft YaHei"/>
              </a:rPr>
              <a:t>补两件评估工具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6286500" y="1371600"/>
            <a:ext cx="4953000" cy="14097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515100" y="1562100"/>
            <a:ext cx="190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D7BD9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800850" y="1562100"/>
            <a:ext cx="11906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把代价比降到</a:t>
            </a: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1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515100" y="1866900"/>
            <a:ext cx="44958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ρ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由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调到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1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，相对下降回到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29.2%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515100" y="2333625"/>
            <a:ext cx="44958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说明不是方法错了，是参数与基率没对齐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6286500" y="2952750"/>
            <a:ext cx="4953000" cy="15430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515100" y="3143250"/>
            <a:ext cx="190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D7BD9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800850" y="3143250"/>
            <a:ext cx="2228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换决策形式：给定容量取前</a:t>
            </a: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K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515100" y="3448050"/>
            <a:ext cx="44958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70%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容量下，相对随机挑人省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39.0%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515100" y="3895725"/>
            <a:ext cx="44958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名单命中率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92.1%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，基率只有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79.3%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952500" y="5105400"/>
            <a:ext cx="10287000" cy="6762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219200" y="5276850"/>
            <a:ext cx="97536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排序好、决策废，这两件事可以同时成立</a:t>
            </a:r>
            <a:r>
              <a:rPr lang="en-US" sz="1425">
                <a:solidFill>
                  <a:srgbClr val="1E4FA8"/>
                </a:solidFill>
                <a:latin typeface="Microsoft YaHei"/>
                <a:ea typeface="Microsoft YaHei"/>
              </a:rPr>
              <a:t xml:space="preserve"> —— AUC </a:t>
            </a: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只看排序，代价只看决策，中间隔着基率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952500" y="6419850"/>
            <a:ext cx="4162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B0BAC7"/>
                </a:solidFill>
                <a:latin typeface="Microsoft YaHei"/>
                <a:ea typeface="Microsoft YaHei"/>
              </a:rPr>
              <a:t xml:space="preserve">KDD Cup 2015 </a:t>
            </a:r>
            <a:r>
              <a:rPr lang="zh-CN" sz="975">
                <a:solidFill>
                  <a:srgbClr val="B0BAC7"/>
                </a:solidFill>
                <a:latin typeface="Microsoft YaHei"/>
                <a:ea typeface="Microsoft YaHei"/>
              </a:rPr>
              <a:t>训练集</a:t>
            </a:r>
            <a:r>
              <a:rPr lang="en-US" sz="975">
                <a:solidFill>
                  <a:srgbClr val="B0BAC7"/>
                </a:solidFill>
                <a:latin typeface="Microsoft YaHei"/>
                <a:ea typeface="Microsoft YaHei"/>
              </a:rPr>
              <a:t xml:space="preserve"> · 120,542 </a:t>
            </a:r>
            <a:r>
              <a:rPr lang="zh-CN" sz="975">
                <a:solidFill>
                  <a:srgbClr val="B0BAC7"/>
                </a:solidFill>
                <a:latin typeface="Microsoft YaHei"/>
                <a:ea typeface="Microsoft YaHei"/>
              </a:rPr>
              <a:t>条选课</a:t>
            </a:r>
            <a:r>
              <a:rPr lang="en-US" sz="975">
                <a:solidFill>
                  <a:srgbClr val="B0BAC7"/>
                </a:solidFill>
                <a:latin typeface="Microsoft YaHei"/>
                <a:ea typeface="Microsoft YaHei"/>
              </a:rPr>
              <a:t xml:space="preserve"> / 815.7 </a:t>
            </a:r>
            <a:r>
              <a:rPr lang="zh-CN" sz="975">
                <a:solidFill>
                  <a:srgbClr val="B0BAC7"/>
                </a:solidFill>
                <a:latin typeface="Microsoft YaHei"/>
                <a:ea typeface="Microsoft YaHei"/>
              </a:rPr>
              <a:t>万条行为事件</a:t>
            </a:r>
            <a:r>
              <a:rPr lang="en-US" sz="975">
                <a:solidFill>
                  <a:srgbClr val="B0BAC7"/>
                </a:solidFill>
                <a:latin typeface="Microsoft YaHei"/>
                <a:ea typeface="Microsoft YaHei"/>
              </a:rPr>
              <a:t xml:space="preserve"> / 39 </a:t>
            </a:r>
            <a:r>
              <a:rPr lang="zh-CN" sz="975">
                <a:solidFill>
                  <a:srgbClr val="B0BAC7"/>
                </a:solidFill>
                <a:latin typeface="Microsoft YaHei"/>
                <a:ea typeface="Microsoft YaHei"/>
              </a:rPr>
              <a:t>门课程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25" name="" descr="&lt;Slide style={{ width: 1280, height: 720, background: '#FFFFFF', padding: 0, position: 'relative' }}&gt;&#10;    &lt;Box style={{ position: 'absolute', left: 0, top: 0, width: 1280, height: 76, background: '#1E4FA8', display: 'flex', flexDirection: 'row', alignItems: 'center', justifyContent: 'space-between', paddingLeft: 100, paddingRight: 60 }}&gt;&#10;        &lt;Text style={{ fontSize: 34, fontWeight: 'bold', color: '#FFFFFF' }}&gt;进度与下一步&lt;/Text&gt;&#10;        &lt;Text style={{ fontSize: 15, color: '#B9CDEC', letterSpacing: 1 }}&gt;06 / 06&lt;/Text&gt;&#10;    &lt;/Box&gt;&#10;&#10;    &lt;Box style={{ position: 'absolute', left: 100, top: 124, width: 592, display: 'flex', flexDirection: 'column' }}&gt;&#10;        &lt;Text style={{ fontSize: 15, color: '#8B97A8', letterSpacing: 1, marginBottom: 24 }}&gt;已完成 · 初稿与工程两线并进&lt;/Text&gt;&#10;&#10;        &lt;Box style={{ display: 'flex', flexDirection: 'row', gap: 34, marginBottom: 34 }}&gt;&#10;            &lt;Box style={{ width: 279, display: 'flex', flexDirection: 'row', alignItems: 'flex-end', gap: 8 }}&gt;&#10;                &lt;Text style={{ fontSize: 58, fontWeight: 'bold', color: '#1E4FA8', lineHeight: 1 }}&gt;88&lt;/Text&gt;&#10;                &lt;Box style={{ display: 'flex', flexDirection: 'column', paddingBottom: 4 }}&gt;&#10;                    &lt;Text style={{ fontSize: 16, color: '#1A2230' }}&gt;页 论文初稿&lt;/Text&gt;&#10;                    &lt;Text style={{ fontSize: 13, color: '#8B97A8', marginTop: 3 }}&gt;正文七章全部完稿&lt;/Text&gt;&#10;                &lt;/Box&gt;&#10;            &lt;/Box&gt;&#10;            &lt;Box style={{ width: 279, display: 'flex', flexDirection: 'row', alignItems: 'flex-end', gap: 8 }}&gt;&#10;                &lt;Text style={{ fontSize: 58, fontWeight: 'bold', color: '#1E4FA8', lineHeight: 1 }}&gt;45&lt;/Text&gt;&#10;                &lt;Box style={{ display: 'flex', flexDirection: 'column', paddingBottom: 4 }}&gt;&#10;                    &lt;Text style={{ fontSize: 16, color: '#1A2230' }}&gt;张 表格&lt;/Text&gt;&#10;                    &lt;Text style={{ fontSize: 13, color: '#8B97A8', marginTop: 3 }}&gt;全部与代码台账对齐&lt;/Text&gt;&#10;                &lt;/Box&gt;&#10;            &lt;/Box&gt;&#10;        &lt;/Box&gt;&#10;&#10;        &lt;Box style={{ display: 'flex', flexDirection: 'row', gap: 34 }}&gt;&#10;            &lt;Box style={{ width: 279, display: 'flex', flexDirection: 'row', alignItems: 'flex-end', gap: 8 }}&gt;&#10;                &lt;Text style={{ fontSize: 58, fontWeight: 'bold', color: '#1E4FA8', lineHeight: 1 }}&gt;13&lt;/Text&gt;&#10;                &lt;Box style={{ display: 'flex', flexDirection: 'column', paddingBottom: 4 }}&gt;&#10;                    &lt;Text style={{ fontSize: 16, color: '#1A2230' }}&gt;张 图&lt;/Text&gt;&#10;                    &lt;Text style={{ fontSize: 13, color: '#8B97A8', marginTop: 3 }}&gt;脚本可复现，改参数整链重跑&lt;/Text&gt;&#10;                &lt;/Box&gt;&#10;            &lt;/Box&gt;&#10;            &lt;Box style={{ width: 279, display: 'flex', flexDirection: 'row', alignItems: 'flex-end', gap: 8 }}&gt;&#10;                &lt;Text style={{ fontSize: 58, fontWeight: 'bold', color: '#1E4FA8', lineHeight: 1 }}&gt;115&lt;/Text&gt;&#10;                &lt;Box style={{ display: 'flex', flexDirection: 'column', paddingBottom: 4 }}&gt;&#10;                    &lt;Text style={{ fontSize: 16, color: '#1A2230' }}&gt;项 自动化测试&lt;/Text&gt;&#10;                    &lt;Text style={{ fontSize: 13, color: '#8B97A8', marginTop: 3 }}&gt;全部通过&lt;/Text&gt;&#10;                &lt;/Box&gt;&#10;            &lt;/Box&gt;&#10;        &lt;/Box&gt;&#10;&#10;        &lt;Box style={{ height: 1, background: '#E5E7EB', margin: '30px 0 18px 0' }} /&gt;&#10;        &lt;Text style={{ fontSize: 15, color: '#4A5568', lineHeight: 1.7 }}&gt;&#10;            原型系统可按周产出风险名单；判定阈值、风险等级与名单规模三项全部由配置驱动，不做硬编码&#10;        &lt;/Text&gt;&#10;    &lt;/Box&gt;&#10;&#10;    &lt;Box style={{ position: 'absolute', left: 752, top: 124, width: 428, display: 'flex', flexDirection: 'column' }}&gt;&#10;        &lt;Text style={{ fontSize: 15, color: '#8B97A8', letterSpacing: 1, marginBottom: 24 }}&gt;接下来两周&lt;/Text&gt;&#10;&#10;        &lt;Box style={{ display: 'flex', flexDirection: 'row', gap: 14, paddingBottom: 16, borderBottom: '1px solid #E5E7EB' }}&gt;&#10;            &lt;Text style={{ fontSize: 17, fontWeight: 'bold', color: '#3D7BD9' }}&gt;01&lt;/Text&gt;&#10;            &lt;Box style={{ display: 'flex', flexDirection: 'column', gap: 4 }}&gt;&#10;                &lt;Text style={{ fontSize: 18, color: '#1A2230' }}&gt;答辩 PPT 定稿&lt;/Text&gt;&#10;                &lt;Text style={{ fontSize: 14, color: '#8B97A8' }}&gt;按本次框架扩到 15–20 页&lt;/Text&gt;&#10;            &lt;/Box&gt;&#10;        &lt;/Box&gt;&#10;&#10;        &lt;Box style={{ display: 'flex', flexDirection: 'row', gap: 14, padding: '16px 0', borderBottom: '1px solid #E5E7EB' }}&gt;&#10;            &lt;Text style={{ fontSize: 17, fontWeight: 'bold', color: '#3D7BD9' }}&gt;02&lt;/Text&gt;&#10;            &lt;Box style={{ display: 'flex', flexDirection: 'column', gap: 4 }}&gt;&#10;                &lt;Text style={{ fontSize: 18, color: '#1A2230' }}&gt;查重与降重&lt;/Text&gt;&#10;                &lt;Text style={{ fontSize: 14, color: '#8B97A8' }}&gt;正文 5.9 万字，目标重复率 ≤ 15%&lt;/Text&gt;&#10;            &lt;/Box&gt;&#10;        &lt;/Box&gt;&#10;&#10;        &lt;Box style={{ display: 'flex', flexDirection: 'row', gap: 14, padding: '16px 0' }}&gt;&#10;            &lt;Text style={{ fontSize: 17, fontWeight: 'bold', color: '#3D7BD9' }}&gt;03&lt;/Text&gt;&#10;            &lt;Box style={{ display: 'flex', flexDirection: 'column', gap: 4 }}&gt;&#10;                &lt;Text style={{ fontSize: 18, color: '#1A2230' }}&gt;格式校对与提交&lt;/Text&gt;&#10;                &lt;Text style={{ fontSize: 14, color: '#8B97A8' }}&gt;图表编号、参考文献、页眉页脚&lt;/Text&gt;&#10;            &lt;/Box&gt;&#10;        &lt;/Box&gt;&#10;    &lt;/Box&gt;&#10;&#10;    &lt;Box style={{ position: 'absolute', left: 100, top: 556, width: 1080, background: '#1E4FA8', padding: '22px 30px' }}&gt;&#10;        &lt;Text style={{ fontSize: 21, color: '#FFFFFF', lineHeight: 1.55 }}&gt;&#10;            一句话结论：代价敏感的收益，由 &lt;span style={{ fontWeight: 'bold' }}&gt;代价矩阵 × 基率 × 模型可分性&lt;/span&gt; 三者共同决定 ——&#10;            脱离基率去设代价比，会得到一个技术上正确、业务上没用的模型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0" y="0"/>
            <a:ext cx="12192000" cy="7239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952500" y="171450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进度与下一步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1068050" y="276225"/>
            <a:ext cx="552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EC"/>
                </a:solidFill>
                <a:latin typeface="Microsoft YaHei"/>
                <a:ea typeface="Microsoft YaHei"/>
              </a:rPr>
              <a:t>06 / 06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952500" y="1181100"/>
            <a:ext cx="5638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8B97A8"/>
                </a:solidFill>
                <a:latin typeface="Microsoft YaHei"/>
                <a:ea typeface="Microsoft YaHei"/>
              </a:rPr>
              <a:t>已完成</a:t>
            </a:r>
            <a:r>
              <a:rPr lang="en-US" sz="1125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spc="75">
                <a:solidFill>
                  <a:srgbClr val="8B97A8"/>
                </a:solidFill>
                <a:latin typeface="Microsoft YaHei"/>
                <a:ea typeface="Microsoft YaHei"/>
              </a:rPr>
              <a:t>初稿与工程两线并进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952500" y="1581150"/>
            <a:ext cx="685800" cy="666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350" b="1">
                <a:solidFill>
                  <a:srgbClr val="1E4FA8"/>
                </a:solidFill>
                <a:latin typeface="Microsoft YaHei"/>
                <a:ea typeface="Microsoft YaHei"/>
              </a:rPr>
              <a:t>88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714500" y="1838325"/>
            <a:ext cx="990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页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论文初稿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714500" y="2057400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正文七章全部完稿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3933825" y="1581150"/>
            <a:ext cx="685800" cy="666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350" b="1">
                <a:solidFill>
                  <a:srgbClr val="1E4FA8"/>
                </a:solidFill>
                <a:latin typeface="Microsoft YaHei"/>
                <a:ea typeface="Microsoft YaHei"/>
              </a:rPr>
              <a:t>45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4695825" y="1838325"/>
            <a:ext cx="1114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张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表格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4695825" y="2057400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全部与代码台账对齐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952500" y="2571750"/>
            <a:ext cx="685800" cy="666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350" b="1">
                <a:solidFill>
                  <a:srgbClr val="1E4FA8"/>
                </a:solidFill>
                <a:latin typeface="Microsoft YaHei"/>
                <a:ea typeface="Microsoft YaHei"/>
              </a:rPr>
              <a:t>13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714500" y="2828925"/>
            <a:ext cx="1609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张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图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714500" y="3048000"/>
            <a:ext cx="160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脚本可复现，改参数整链重跑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3933825" y="2571750"/>
            <a:ext cx="1028700" cy="666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350" b="1">
                <a:solidFill>
                  <a:srgbClr val="1E4FA8"/>
                </a:solidFill>
                <a:latin typeface="Microsoft YaHei"/>
                <a:ea typeface="Microsoft YaHei"/>
              </a:rPr>
              <a:t>115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5038725" y="2828925"/>
            <a:ext cx="962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项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自动化测试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5038725" y="3048000"/>
            <a:ext cx="962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全部通过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952500" y="3524250"/>
            <a:ext cx="56388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952500" y="3705225"/>
            <a:ext cx="56388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原型系统可按周产出风险名单；判定阈值、风险等级与名单规模三项全部由配置驱动，不做硬编码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7162800" y="1181100"/>
            <a:ext cx="407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8B97A8"/>
                </a:solidFill>
                <a:latin typeface="Microsoft YaHei"/>
                <a:ea typeface="Microsoft YaHei"/>
              </a:rPr>
              <a:t>接下来两周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7162800" y="1581150"/>
            <a:ext cx="4076700" cy="581025"/>
          </a:xfrm>
          <a:custGeom>
            <a:pathLst>
              <a:path w="428" h="61">
                <a:moveTo>
                  <a:pt x="0" y="60"/>
                </a:moveTo>
                <a:lnTo>
                  <a:pt x="428" y="60"/>
                </a:lnTo>
                <a:lnTo>
                  <a:pt x="428" y="61"/>
                </a:lnTo>
                <a:lnTo>
                  <a:pt x="0" y="6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7162800" y="1581150"/>
            <a:ext cx="200025" cy="4095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D7BD9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7496175" y="1581150"/>
            <a:ext cx="1533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答辩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PPT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定稿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496175" y="1828800"/>
            <a:ext cx="1533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按本次框架扩到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15–20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7162800" y="2152650"/>
            <a:ext cx="4076700" cy="733425"/>
          </a:xfrm>
          <a:custGeom>
            <a:pathLst>
              <a:path w="428" h="77">
                <a:moveTo>
                  <a:pt x="0" y="76"/>
                </a:moveTo>
                <a:lnTo>
                  <a:pt x="428" y="76"/>
                </a:lnTo>
                <a:lnTo>
                  <a:pt x="428" y="77"/>
                </a:lnTo>
                <a:lnTo>
                  <a:pt x="0" y="77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7162800" y="2305050"/>
            <a:ext cx="200025" cy="4095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D7BD9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7496175" y="2305050"/>
            <a:ext cx="2057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查重与降重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7496175" y="2552700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正文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5.9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万字，目标重复率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≤ 15%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162800" y="3028950"/>
            <a:ext cx="200025" cy="4095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D7BD9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7496175" y="3028950"/>
            <a:ext cx="1866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格式校对与提交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7496175" y="3276600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图表编号、参考文献、页眉页脚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952500" y="5295900"/>
            <a:ext cx="10287000" cy="117157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238250" y="5505450"/>
            <a:ext cx="9715500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一句话结论：代价敏感的收益，由</a:t>
            </a: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代价矩阵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基率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模型可分性</a:t>
            </a: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三者共同决定</a:t>
            </a: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脱离基率去设代价比，会得到一个技术上正确、业务上没用的模型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2026-10-29T21:19:04Z</dcterms:created>
  <dcterms:modified xsi:type="dcterms:W3CDTF">2026-10-29T21:19:04Z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{"AIGC":{"Label":"1","ContentProducer":"00119111010856365494821B355","ProduceID":"01a187be6cc17c7ab8091a13d0ecee36","ReservedCode1":"","ContentPropagator":"00119111010856365494821B355","PropagateID":"01a187be6cc17c7ab8091a13d0ecee36","ReservedCode2":""}}</vt:lpwstr>
  </property>
</Properties>
</file>